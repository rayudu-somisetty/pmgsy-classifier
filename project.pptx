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4" r:id="rId5"/>
    <p:sldId id="285" r:id="rId6"/>
    <p:sldId id="281" r:id="rId7"/>
    <p:sldId id="279" r:id="rId8"/>
    <p:sldId id="287" r:id="rId9"/>
    <p:sldId id="288" r:id="rId10"/>
    <p:sldId id="262" r:id="rId11"/>
    <p:sldId id="289" r:id="rId12"/>
    <p:sldId id="290" r:id="rId13"/>
    <p:sldId id="291" r:id="rId14"/>
    <p:sldId id="264" r:id="rId15"/>
    <p:sldId id="278" r:id="rId16"/>
    <p:sldId id="286" r:id="rId17"/>
    <p:sldId id="277" r:id="rId18"/>
    <p:sldId id="280"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9" d="100"/>
          <a:sy n="79" d="100"/>
        </p:scale>
        <p:origin x="164"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pmgsy-classifier.onrender.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Rayudu-Somisetty/PMGSY-classifier"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AI with </a:t>
            </a:r>
            <a:r>
              <a:rPr lang="en-IN" b="1" dirty="0"/>
              <a:t>IBM Watson ML,</a:t>
            </a:r>
            <a:r>
              <a:rPr lang="en-IN" dirty="0"/>
              <a:t> </a:t>
            </a:r>
            <a:r>
              <a:rPr lang="en-IN" dirty="0" err="1"/>
              <a:t>XGBoost</a:t>
            </a:r>
            <a:r>
              <a:rPr lang="en-IN" dirty="0"/>
              <a:t> Classifier</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3277048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Rayudu Somi Setty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srayudu3@gitam.in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9494588144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944869" y="3540560"/>
            <a:ext cx="1266228" cy="1226883"/>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highlight>
                  <a:srgbClr val="FFFF00"/>
                </a:highlight>
              </a:rPr>
              <a:t>Rural Infrastructure and Development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1077218"/>
          </a:xfrm>
          <a:prstGeom prst="rect">
            <a:avLst/>
          </a:prstGeom>
          <a:noFill/>
        </p:spPr>
        <p:txBody>
          <a:bodyPr wrap="square" rtlCol="0">
            <a:spAutoFit/>
          </a:bodyPr>
          <a:lstStyle/>
          <a:p>
            <a:r>
              <a:rPr lang="en-US" sz="2400" b="1" dirty="0"/>
              <a:t>Project Tile – </a:t>
            </a:r>
            <a:r>
              <a:rPr lang="en-IN" sz="2000" b="1" dirty="0"/>
              <a:t>PMGSY Project Classifier</a:t>
            </a:r>
          </a:p>
          <a:p>
            <a:pPr algn="ctr"/>
            <a:r>
              <a:rPr lang="en-IN" sz="1600" dirty="0"/>
              <a:t>Intelligent Classification of Rural Infrastructure Projects</a:t>
            </a:r>
          </a:p>
          <a:p>
            <a:r>
              <a:rPr lang="en-US" sz="2400" b="1" dirty="0"/>
              <a:t> </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55639" y="346855"/>
            <a:ext cx="11788877" cy="6771084"/>
          </a:xfrm>
          <a:prstGeom prst="rect">
            <a:avLst/>
          </a:prstGeom>
          <a:noFill/>
        </p:spPr>
        <p:txBody>
          <a:bodyPr wrap="square" rtlCol="0">
            <a:spAutoFit/>
          </a:bodyPr>
          <a:lstStyle/>
          <a:p>
            <a:pPr fontAlgn="base"/>
            <a:r>
              <a:rPr lang="en-US" b="1" dirty="0"/>
              <a:t>Problem Statement : PMGSY scheme classifier</a:t>
            </a:r>
            <a:r>
              <a:rPr lang="en-US" dirty="0"/>
              <a:t> </a:t>
            </a:r>
          </a:p>
          <a:p>
            <a:pPr fontAlgn="base"/>
            <a:endParaRPr lang="en-US" b="1" dirty="0"/>
          </a:p>
          <a:p>
            <a:r>
              <a:rPr lang="en-IN" b="1" dirty="0"/>
              <a:t>Problem Statement: Intelligent Classification of Rural Infrastructure Projects</a:t>
            </a:r>
          </a:p>
          <a:p>
            <a:r>
              <a:rPr lang="en-IN" b="1" dirty="0"/>
              <a:t>The Challenge</a:t>
            </a:r>
          </a:p>
          <a:p>
            <a:r>
              <a:rPr lang="en-IN" dirty="0"/>
              <a:t>The </a:t>
            </a:r>
            <a:r>
              <a:rPr lang="en-IN" b="1" dirty="0"/>
              <a:t>Pradhan Mantri Gram Sadak Yojana (PMGSY)</a:t>
            </a:r>
            <a:r>
              <a:rPr lang="en-IN" dirty="0"/>
              <a:t> is one of India's largest rural infrastructure development programs, aimed at providing reliable road connectivity to rural habitations. Over time, multiple schemes such as </a:t>
            </a:r>
            <a:r>
              <a:rPr lang="en-IN" b="1" dirty="0"/>
              <a:t>PMGSY-I, PMGSY-II, RCPLWEA, PMGSY-III</a:t>
            </a:r>
            <a:r>
              <a:rPr lang="en-IN" dirty="0"/>
              <a:t>, and others have been introduced, each with unique objectives, funding models, and project specifications.</a:t>
            </a:r>
          </a:p>
          <a:p>
            <a:r>
              <a:rPr lang="en-IN" dirty="0"/>
              <a:t>Government agencies and infrastructure planners manage thousands of road and bridge construction projects across the country. Manually classifying these projects into the correct PMGSY scheme is </a:t>
            </a:r>
            <a:r>
              <a:rPr lang="en-IN" dirty="0" err="1"/>
              <a:t>labor-intensive</a:t>
            </a:r>
            <a:r>
              <a:rPr lang="en-IN" dirty="0"/>
              <a:t>, error-prone, and inefficient. Misclassification can impact project monitoring, budget allocation, policy evaluation, and decision-making.</a:t>
            </a:r>
          </a:p>
          <a:p>
            <a:r>
              <a:rPr lang="en-IN" dirty="0"/>
              <a:t>Without an intelligent automated system, stakeholders face challenges in </a:t>
            </a:r>
            <a:r>
              <a:rPr lang="en-IN" dirty="0" err="1"/>
              <a:t>analyzing</a:t>
            </a:r>
            <a:r>
              <a:rPr lang="en-IN" dirty="0"/>
              <a:t> project data, tracking scheme performance, and ensuring transparency in rural infrastructure development.</a:t>
            </a:r>
          </a:p>
          <a:p>
            <a:pPr fontAlgn="base"/>
            <a:endParaRPr lang="en-US" dirty="0"/>
          </a:p>
          <a:p>
            <a:r>
              <a:rPr lang="en-IN" b="1" dirty="0"/>
              <a:t>The Objective</a:t>
            </a:r>
          </a:p>
          <a:p>
            <a:r>
              <a:rPr lang="en-IN" dirty="0"/>
              <a:t>Build an </a:t>
            </a:r>
            <a:r>
              <a:rPr lang="en-IN" b="1" dirty="0"/>
              <a:t>AI-powered PMGSY Project Classification System</a:t>
            </a:r>
            <a:r>
              <a:rPr lang="en-IN" dirty="0"/>
              <a:t> that automatically identifies and classifies rural road and bridge construction projects into their appropriate </a:t>
            </a:r>
            <a:r>
              <a:rPr lang="en-IN" b="1" dirty="0"/>
              <a:t>PMGSY Scheme</a:t>
            </a:r>
            <a:r>
              <a:rPr lang="en-IN" dirty="0"/>
              <a:t> based on physical, financial, and administrative project characteristics.</a:t>
            </a:r>
          </a:p>
          <a:p>
            <a:r>
              <a:rPr lang="en-IN" dirty="0"/>
              <a:t>The solution should:</a:t>
            </a:r>
          </a:p>
          <a:p>
            <a:r>
              <a:rPr lang="en-IN" b="1" dirty="0"/>
              <a:t>Intelligent Project Classification</a:t>
            </a:r>
          </a:p>
          <a:p>
            <a:r>
              <a:rPr lang="en-IN" dirty="0"/>
              <a:t>Predict the correct PMGSY scheme (PMGSY-I, PMGSY-II, RCPLWEA, PMGSY-III, etc.) using project attributes.</a:t>
            </a:r>
          </a:p>
          <a:p>
            <a:r>
              <a:rPr lang="en-IN" dirty="0"/>
              <a:t>Support classification of both completed and ongoing projects using an </a:t>
            </a:r>
            <a:r>
              <a:rPr lang="en-IN" b="1" dirty="0" err="1"/>
              <a:t>XGBoost</a:t>
            </a:r>
            <a:r>
              <a:rPr lang="en-IN" b="1" dirty="0"/>
              <a:t> Classifier</a:t>
            </a:r>
            <a:r>
              <a:rPr lang="en-IN" dirty="0"/>
              <a:t>.</a:t>
            </a:r>
          </a:p>
          <a:p>
            <a:r>
              <a:rPr lang="en-IN" dirty="0"/>
              <a:t>Provide fast and accurate predictions through a deployed machine learning model.</a:t>
            </a:r>
          </a:p>
          <a:p>
            <a:r>
              <a:rPr lang="en-IN" b="1" dirty="0"/>
              <a:t>Project Data Processing</a:t>
            </a:r>
          </a:p>
          <a:p>
            <a:r>
              <a:rPr lang="en-IN" dirty="0"/>
              <a:t>Accept project details through a user-friendly web interface.</a:t>
            </a:r>
          </a:p>
          <a:p>
            <a:r>
              <a:rPr lang="en-IN" dirty="0"/>
              <a:t>Validate infrastructure-related input parameters before prediction.</a:t>
            </a:r>
          </a:p>
          <a:p>
            <a:r>
              <a:rPr lang="en-IN" dirty="0"/>
              <a:t>Process physical, financial, and work-progress metrics for classification.</a:t>
            </a:r>
          </a:p>
          <a:p>
            <a:r>
              <a:rPr lang="en-IN" b="1" dirty="0"/>
              <a:t>Real-Time Prediction Service</a:t>
            </a:r>
          </a:p>
          <a:p>
            <a:r>
              <a:rPr lang="en-IN" dirty="0"/>
              <a:t>Securely connect to the machine learning model deployed on </a:t>
            </a:r>
            <a:r>
              <a:rPr lang="en-IN" b="1" dirty="0"/>
              <a:t>IBM Watson Machine Learning</a:t>
            </a:r>
            <a:r>
              <a:rPr lang="en-IN" dirty="0"/>
              <a:t>.</a:t>
            </a:r>
          </a:p>
          <a:p>
            <a:r>
              <a:rPr lang="en-IN" dirty="0"/>
              <a:t>Generate real-time prediction results through API-based model scoring.</a:t>
            </a:r>
          </a:p>
          <a:p>
            <a:r>
              <a:rPr lang="en-IN" dirty="0"/>
              <a:t>Display prediction outcomes instantly to users.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147484" y="-68826"/>
            <a:ext cx="7214616" cy="461665"/>
          </a:xfrm>
          <a:prstGeom prst="rect">
            <a:avLst/>
          </a:prstGeom>
          <a:noFill/>
        </p:spPr>
        <p:txBody>
          <a:bodyPr wrap="square" rtlCol="0">
            <a:spAutoFit/>
          </a:bodyPr>
          <a:lstStyle/>
          <a:p>
            <a:r>
              <a:rPr lang="en-US" sz="2400" b="1" u="sng" dirty="0"/>
              <a:t>Problem Statement</a:t>
            </a:r>
            <a:r>
              <a:rPr lang="en-US" sz="2400" b="1" dirty="0"/>
              <a: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271272" y="4480842"/>
            <a:ext cx="10607040" cy="2677656"/>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t>LangFlow</a:t>
            </a:r>
            <a:r>
              <a:rPr lang="en-IN" dirty="0"/>
              <a:t> + IBM watsonx.ai + Granite Models </a:t>
            </a:r>
          </a:p>
          <a:p>
            <a:pPr fontAlgn="base"/>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271272" y="4250010"/>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5" name="TextBox 4">
            <a:extLst>
              <a:ext uri="{FF2B5EF4-FFF2-40B4-BE49-F238E27FC236}">
                <a16:creationId xmlns:a16="http://schemas.microsoft.com/office/drawing/2014/main" id="{8DB3FC80-1592-486A-C8C2-DAC032260348}"/>
              </a:ext>
            </a:extLst>
          </p:cNvPr>
          <p:cNvSpPr txBox="1"/>
          <p:nvPr/>
        </p:nvSpPr>
        <p:spPr>
          <a:xfrm>
            <a:off x="470867" y="176981"/>
            <a:ext cx="10767404" cy="3754874"/>
          </a:xfrm>
          <a:prstGeom prst="rect">
            <a:avLst/>
          </a:prstGeom>
          <a:noFill/>
        </p:spPr>
        <p:txBody>
          <a:bodyPr wrap="square" rtlCol="0">
            <a:spAutoFit/>
          </a:bodyPr>
          <a:lstStyle/>
          <a:p>
            <a:r>
              <a:rPr lang="en-IN" b="1" dirty="0"/>
              <a:t>Infrastructure Analytics</a:t>
            </a:r>
          </a:p>
          <a:p>
            <a:r>
              <a:rPr lang="en-IN" dirty="0" err="1"/>
              <a:t>Analyze</a:t>
            </a:r>
            <a:r>
              <a:rPr lang="en-IN" dirty="0"/>
              <a:t> project characteristics and classification patterns across different PMGSY schemes.</a:t>
            </a:r>
          </a:p>
          <a:p>
            <a:r>
              <a:rPr lang="en-IN" dirty="0"/>
              <a:t>Support monitoring and evaluation of rural infrastructure projects.</a:t>
            </a:r>
          </a:p>
          <a:p>
            <a:r>
              <a:rPr lang="en-IN" dirty="0"/>
              <a:t>Provide insights that help improve project categorization and reporting.</a:t>
            </a:r>
          </a:p>
          <a:p>
            <a:r>
              <a:rPr lang="en-IN" b="1" dirty="0"/>
              <a:t>Decision Support</a:t>
            </a:r>
          </a:p>
          <a:p>
            <a:r>
              <a:rPr lang="en-IN" dirty="0"/>
              <a:t>Assist government agencies, infrastructure planners, and policy analysts in efficiently categorizing projects.</a:t>
            </a:r>
          </a:p>
          <a:p>
            <a:r>
              <a:rPr lang="en-IN" dirty="0"/>
              <a:t>Reduce manual effort, classification errors, and processing time.</a:t>
            </a:r>
          </a:p>
          <a:p>
            <a:r>
              <a:rPr lang="en-IN" dirty="0"/>
              <a:t>Improve transparency and consistency in project monitoring and management.</a:t>
            </a:r>
          </a:p>
          <a:p>
            <a:r>
              <a:rPr lang="en-IN" b="1" dirty="0"/>
              <a:t>System Components</a:t>
            </a:r>
          </a:p>
          <a:p>
            <a:r>
              <a:rPr lang="en-IN" b="1" dirty="0"/>
              <a:t>Project Data Processor</a:t>
            </a:r>
          </a:p>
          <a:p>
            <a:r>
              <a:rPr lang="en-IN" dirty="0"/>
              <a:t>Collects, validates, and prepares project information for classification.</a:t>
            </a:r>
          </a:p>
          <a:p>
            <a:r>
              <a:rPr lang="en-IN" b="1" dirty="0"/>
              <a:t>Classification Engine</a:t>
            </a:r>
          </a:p>
          <a:p>
            <a:r>
              <a:rPr lang="en-IN" dirty="0"/>
              <a:t>Uses the trained </a:t>
            </a:r>
            <a:r>
              <a:rPr lang="en-IN" dirty="0" err="1"/>
              <a:t>XGBoost</a:t>
            </a:r>
            <a:r>
              <a:rPr lang="en-IN" dirty="0"/>
              <a:t> model to predict the appropriate PMGSY scheme.</a:t>
            </a:r>
          </a:p>
          <a:p>
            <a:r>
              <a:rPr lang="en-IN" b="1" dirty="0"/>
              <a:t>Analytics Module</a:t>
            </a:r>
          </a:p>
          <a:p>
            <a:r>
              <a:rPr lang="en-IN" dirty="0"/>
              <a:t>Tracks prediction requests, execution times, and system performance metrics.</a:t>
            </a:r>
          </a:p>
          <a:p>
            <a:r>
              <a:rPr lang="en-IN" b="1" dirty="0"/>
              <a:t>Monitoring Module</a:t>
            </a:r>
          </a:p>
          <a:p>
            <a:r>
              <a:rPr lang="en-IN" dirty="0"/>
              <a:t>Provides system health checks and operational status for reliable deployment.</a:t>
            </a: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85057" y="1088893"/>
            <a:ext cx="10176387" cy="5262979"/>
          </a:xfrm>
          <a:prstGeom prst="rect">
            <a:avLst/>
          </a:prstGeom>
          <a:noFill/>
        </p:spPr>
        <p:txBody>
          <a:bodyPr wrap="square" rtlCol="0">
            <a:spAutoFit/>
          </a:bodyPr>
          <a:lstStyle/>
          <a:p>
            <a:r>
              <a:rPr lang="en-IN" dirty="0"/>
              <a:t>The proposed solution is an </a:t>
            </a:r>
            <a:r>
              <a:rPr lang="en-IN" b="1" dirty="0"/>
              <a:t>AI-powered PMGSY Project Classification System</a:t>
            </a:r>
            <a:r>
              <a:rPr lang="en-IN" dirty="0"/>
              <a:t> that automatically categorizes rural road and bridge infrastructure projects into the correct PMGSY scheme, such as PMGSY-I, PMGSY-II, and RCPLWEA. </a:t>
            </a:r>
          </a:p>
          <a:p>
            <a:endParaRPr lang="en-IN" dirty="0"/>
          </a:p>
          <a:p>
            <a:r>
              <a:rPr lang="en-IN" dirty="0"/>
              <a:t>The system leverages an </a:t>
            </a:r>
            <a:r>
              <a:rPr lang="en-IN" b="1" dirty="0" err="1"/>
              <a:t>XGBoost</a:t>
            </a:r>
            <a:r>
              <a:rPr lang="en-IN" b="1" dirty="0"/>
              <a:t> machine learning model</a:t>
            </a:r>
            <a:r>
              <a:rPr lang="en-IN" dirty="0"/>
              <a:t> trained on PMGSY project data and deployed on </a:t>
            </a:r>
            <a:r>
              <a:rPr lang="en-IN" b="1" dirty="0"/>
              <a:t>IBM Watson Machine Learning</a:t>
            </a:r>
            <a:r>
              <a:rPr lang="en-IN" dirty="0"/>
              <a:t> for real-time predictions.</a:t>
            </a:r>
          </a:p>
          <a:p>
            <a:endParaRPr lang="en-IN" dirty="0"/>
          </a:p>
          <a:p>
            <a:r>
              <a:rPr lang="en-IN" dirty="0"/>
              <a:t>The solution follows a three-layer architecture consisting of a responsive frontend, a secure Node.js and Express.js backend, and a cloud-hosted machine learning model. </a:t>
            </a:r>
          </a:p>
          <a:p>
            <a:r>
              <a:rPr lang="en-IN" dirty="0"/>
              <a:t>The model </a:t>
            </a:r>
            <a:r>
              <a:rPr lang="en-IN" dirty="0" err="1"/>
              <a:t>analyzes</a:t>
            </a:r>
            <a:r>
              <a:rPr lang="en-IN" dirty="0"/>
              <a:t> 14 project attributes, including administrative, financial, and progress-related parameters, to accurately determine the appropriate scheme category.</a:t>
            </a:r>
          </a:p>
          <a:p>
            <a:endParaRPr lang="en-IN" dirty="0"/>
          </a:p>
          <a:p>
            <a:r>
              <a:rPr lang="en-IN" dirty="0"/>
              <a:t>Users can enter project details through a web dashboard and instantly receive classification results along with execution metrics. The backend securely manages authentication, API communication, and system monitoring, while the deployed model delivers fast and reliable predictions.</a:t>
            </a:r>
          </a:p>
          <a:p>
            <a:endParaRPr lang="en-IN" dirty="0"/>
          </a:p>
          <a:p>
            <a:r>
              <a:rPr lang="en-IN" dirty="0"/>
              <a:t>The system includes four key modules:</a:t>
            </a:r>
          </a:p>
          <a:p>
            <a:pPr marL="285750" indent="-285750">
              <a:buFont typeface="Arial" panose="020B0604020202020204" pitchFamily="34" charset="0"/>
              <a:buChar char="•"/>
            </a:pPr>
            <a:r>
              <a:rPr lang="en-IN" b="1" dirty="0"/>
              <a:t>Project Data Processing Module</a:t>
            </a:r>
            <a:r>
              <a:rPr lang="en-IN" dirty="0"/>
              <a:t> – Collects and validates project inputs.</a:t>
            </a:r>
          </a:p>
          <a:p>
            <a:pPr marL="285750" indent="-285750">
              <a:buFont typeface="Arial" panose="020B0604020202020204" pitchFamily="34" charset="0"/>
              <a:buChar char="•"/>
            </a:pPr>
            <a:r>
              <a:rPr lang="en-IN" b="1" dirty="0"/>
              <a:t>Classification Module</a:t>
            </a:r>
            <a:r>
              <a:rPr lang="en-IN" dirty="0"/>
              <a:t> – Predicts the appropriate PMGSY scheme using </a:t>
            </a:r>
            <a:r>
              <a:rPr lang="en-IN" dirty="0" err="1"/>
              <a:t>XGBoost</a:t>
            </a:r>
            <a:r>
              <a:rPr lang="en-IN" dirty="0"/>
              <a:t>.</a:t>
            </a:r>
          </a:p>
          <a:p>
            <a:pPr marL="285750" indent="-285750">
              <a:buFont typeface="Arial" panose="020B0604020202020204" pitchFamily="34" charset="0"/>
              <a:buChar char="•"/>
            </a:pPr>
            <a:r>
              <a:rPr lang="en-IN" b="1" dirty="0"/>
              <a:t>Analytics Module</a:t>
            </a:r>
            <a:r>
              <a:rPr lang="en-IN" dirty="0"/>
              <a:t> – Tracks prediction performance and execution statistics.</a:t>
            </a:r>
          </a:p>
          <a:p>
            <a:pPr marL="285750" indent="-285750">
              <a:buFont typeface="Arial" panose="020B0604020202020204" pitchFamily="34" charset="0"/>
              <a:buChar char="•"/>
            </a:pPr>
            <a:r>
              <a:rPr lang="en-IN" b="1" dirty="0"/>
              <a:t>System Monitoring Module</a:t>
            </a:r>
            <a:r>
              <a:rPr lang="en-IN" dirty="0"/>
              <a:t> – Provides health checks and service diagnostics.</a:t>
            </a:r>
          </a:p>
          <a:p>
            <a:endParaRPr lang="en-IN" dirty="0"/>
          </a:p>
          <a:p>
            <a:endParaRPr lang="en-IN" dirty="0"/>
          </a:p>
          <a:p>
            <a:r>
              <a:rPr lang="en-IN" dirty="0"/>
              <a:t>Overall, the solution improves classification accuracy, reduces manual effort, enhances transparency, and supports efficient monitoring of rural infrastructure projects under the PMGSY program.</a:t>
            </a:r>
          </a:p>
        </p:txBody>
      </p:sp>
      <p:sp>
        <p:nvSpPr>
          <p:cNvPr id="3" name="TextBox 2">
            <a:extLst>
              <a:ext uri="{FF2B5EF4-FFF2-40B4-BE49-F238E27FC236}">
                <a16:creationId xmlns:a16="http://schemas.microsoft.com/office/drawing/2014/main" id="{527F30CC-07EF-8FCC-DA00-C9212F5DAECE}"/>
              </a:ext>
            </a:extLst>
          </p:cNvPr>
          <p:cNvSpPr txBox="1"/>
          <p:nvPr/>
        </p:nvSpPr>
        <p:spPr>
          <a:xfrm>
            <a:off x="949699" y="50612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Working 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401205"/>
          </a:xfrm>
          <a:prstGeom prst="rect">
            <a:avLst/>
          </a:prstGeom>
          <a:noFill/>
        </p:spPr>
        <p:txBody>
          <a:bodyPr wrap="square" rtlCol="0">
            <a:spAutoFit/>
          </a:bodyPr>
          <a:lstStyle/>
          <a:p>
            <a:pPr marL="342900" indent="-342900">
              <a:lnSpc>
                <a:spcPct val="200000"/>
              </a:lnSpc>
              <a:buFont typeface="+mj-lt"/>
              <a:buAutoNum type="arabicPeriod"/>
            </a:pPr>
            <a:r>
              <a:rPr lang="en-IN" b="1" dirty="0"/>
              <a:t>Chat Input Component</a:t>
            </a:r>
            <a:r>
              <a:rPr lang="en-IN" dirty="0"/>
              <a:t> Accepts project parameters entered by users. </a:t>
            </a:r>
          </a:p>
          <a:p>
            <a:pPr marL="342900" indent="-342900">
              <a:lnSpc>
                <a:spcPct val="200000"/>
              </a:lnSpc>
              <a:buFont typeface="+mj-lt"/>
              <a:buAutoNum type="arabicPeriod"/>
            </a:pPr>
            <a:r>
              <a:rPr lang="en-IN" b="1" dirty="0"/>
              <a:t>API Request Component</a:t>
            </a:r>
            <a:r>
              <a:rPr lang="en-IN" dirty="0"/>
              <a:t> Sends project data to the backend prediction service. </a:t>
            </a:r>
          </a:p>
          <a:p>
            <a:pPr marL="342900" indent="-342900">
              <a:lnSpc>
                <a:spcPct val="200000"/>
              </a:lnSpc>
              <a:buFont typeface="+mj-lt"/>
              <a:buAutoNum type="arabicPeriod"/>
            </a:pPr>
            <a:r>
              <a:rPr lang="en-IN" b="1" dirty="0"/>
              <a:t>IBM Watson Machine Learning Component</a:t>
            </a:r>
            <a:r>
              <a:rPr lang="en-IN" dirty="0"/>
              <a:t> Connects to the deployed </a:t>
            </a:r>
            <a:r>
              <a:rPr lang="en-IN" dirty="0" err="1"/>
              <a:t>XGBoost</a:t>
            </a:r>
            <a:r>
              <a:rPr lang="en-IN" dirty="0"/>
              <a:t> model endpoint. </a:t>
            </a:r>
          </a:p>
          <a:p>
            <a:pPr marL="342900" indent="-342900">
              <a:lnSpc>
                <a:spcPct val="200000"/>
              </a:lnSpc>
              <a:buFont typeface="+mj-lt"/>
              <a:buAutoNum type="arabicPeriod"/>
            </a:pPr>
            <a:r>
              <a:rPr lang="en-IN" b="1" dirty="0"/>
              <a:t>Data Processing Component</a:t>
            </a:r>
            <a:r>
              <a:rPr lang="en-IN" dirty="0"/>
              <a:t> Validates and formats the 14 project attributes. </a:t>
            </a:r>
          </a:p>
          <a:p>
            <a:pPr marL="342900" indent="-342900">
              <a:lnSpc>
                <a:spcPct val="200000"/>
              </a:lnSpc>
              <a:buFont typeface="+mj-lt"/>
              <a:buAutoNum type="arabicPeriod"/>
            </a:pPr>
            <a:r>
              <a:rPr lang="en-IN" b="1" dirty="0"/>
              <a:t>Output Component</a:t>
            </a:r>
            <a:r>
              <a:rPr lang="en-IN" dirty="0"/>
              <a:t> Displays the predicted PMGSY scheme and execution metrics. </a:t>
            </a:r>
          </a:p>
          <a:p>
            <a:pPr marL="342900" indent="-342900">
              <a:lnSpc>
                <a:spcPct val="200000"/>
              </a:lnSpc>
              <a:buFont typeface="+mj-lt"/>
              <a:buAutoNum type="arabicPeriod"/>
            </a:pPr>
            <a:r>
              <a:rPr lang="en-IN" b="1" dirty="0"/>
              <a:t>Health Monitoring Component</a:t>
            </a:r>
            <a:r>
              <a:rPr lang="en-IN" dirty="0"/>
              <a:t> Checks API and model availability.</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dirty="0"/>
              <a:t>Model Development Workflow</a:t>
            </a:r>
            <a:r>
              <a:rPr lang="en-US" sz="2400" b="1" dirty="0">
                <a:sym typeface="Times New Roman"/>
              </a:rPr>
              <a:t>-</a:t>
            </a:r>
            <a:endParaRPr sz="2400" b="1" dirty="0">
              <a:sym typeface="Times New Roman"/>
            </a:endParaRPr>
          </a:p>
        </p:txBody>
      </p:sp>
      <p:pic>
        <p:nvPicPr>
          <p:cNvPr id="7" name="Picture 6">
            <a:extLst>
              <a:ext uri="{FF2B5EF4-FFF2-40B4-BE49-F238E27FC236}">
                <a16:creationId xmlns:a16="http://schemas.microsoft.com/office/drawing/2014/main" id="{D9034810-45D6-F6B9-5D19-A52367804419}"/>
              </a:ext>
            </a:extLst>
          </p:cNvPr>
          <p:cNvPicPr>
            <a:picLocks noChangeAspect="1"/>
          </p:cNvPicPr>
          <p:nvPr/>
        </p:nvPicPr>
        <p:blipFill>
          <a:blip r:embed="rId3"/>
          <a:stretch>
            <a:fillRect/>
          </a:stretch>
        </p:blipFill>
        <p:spPr>
          <a:xfrm>
            <a:off x="88490" y="1455472"/>
            <a:ext cx="11651226" cy="439934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2409A-36DE-4C85-8539-D012E832491E}"/>
              </a:ext>
            </a:extLst>
          </p:cNvPr>
          <p:cNvSpPr>
            <a:spLocks noGrp="1"/>
          </p:cNvSpPr>
          <p:nvPr>
            <p:ph type="title"/>
          </p:nvPr>
        </p:nvSpPr>
        <p:spPr>
          <a:xfrm>
            <a:off x="123928" y="1127"/>
            <a:ext cx="10515600" cy="767223"/>
          </a:xfrm>
        </p:spPr>
        <p:txBody>
          <a:bodyPr>
            <a:normAutofit/>
          </a:bodyPr>
          <a:lstStyle/>
          <a:p>
            <a:r>
              <a:rPr lang="en-IN" sz="3000" dirty="0"/>
              <a:t>Model Testing and Evaluation</a:t>
            </a:r>
          </a:p>
        </p:txBody>
      </p:sp>
      <p:sp>
        <p:nvSpPr>
          <p:cNvPr id="3" name="Text Placeholder 2">
            <a:extLst>
              <a:ext uri="{FF2B5EF4-FFF2-40B4-BE49-F238E27FC236}">
                <a16:creationId xmlns:a16="http://schemas.microsoft.com/office/drawing/2014/main" id="{C8C4C74D-7044-9D3F-9B06-FE1DD29B5174}"/>
              </a:ext>
            </a:extLst>
          </p:cNvPr>
          <p:cNvSpPr>
            <a:spLocks noGrp="1"/>
          </p:cNvSpPr>
          <p:nvPr>
            <p:ph type="body" idx="1"/>
          </p:nvPr>
        </p:nvSpPr>
        <p:spPr>
          <a:xfrm>
            <a:off x="123928" y="1198919"/>
            <a:ext cx="4428408" cy="511278"/>
          </a:xfrm>
        </p:spPr>
        <p:txBody>
          <a:bodyPr>
            <a:normAutofit lnSpcReduction="10000"/>
          </a:bodyPr>
          <a:lstStyle/>
          <a:p>
            <a:r>
              <a:rPr lang="en-IN" dirty="0">
                <a:solidFill>
                  <a:schemeClr val="tx1"/>
                </a:solidFill>
              </a:rPr>
              <a:t>Model evaluation scores</a:t>
            </a:r>
          </a:p>
        </p:txBody>
      </p:sp>
      <p:pic>
        <p:nvPicPr>
          <p:cNvPr id="7" name="Picture 6">
            <a:extLst>
              <a:ext uri="{FF2B5EF4-FFF2-40B4-BE49-F238E27FC236}">
                <a16:creationId xmlns:a16="http://schemas.microsoft.com/office/drawing/2014/main" id="{589294E1-A0D6-170D-AB84-516377FD8E59}"/>
              </a:ext>
            </a:extLst>
          </p:cNvPr>
          <p:cNvPicPr>
            <a:picLocks noChangeAspect="1"/>
          </p:cNvPicPr>
          <p:nvPr/>
        </p:nvPicPr>
        <p:blipFill>
          <a:blip r:embed="rId2"/>
          <a:stretch>
            <a:fillRect/>
          </a:stretch>
        </p:blipFill>
        <p:spPr>
          <a:xfrm>
            <a:off x="0" y="1710197"/>
            <a:ext cx="6450760" cy="3471403"/>
          </a:xfrm>
          <a:prstGeom prst="rect">
            <a:avLst/>
          </a:prstGeom>
        </p:spPr>
      </p:pic>
      <p:pic>
        <p:nvPicPr>
          <p:cNvPr id="11" name="Picture 10">
            <a:extLst>
              <a:ext uri="{FF2B5EF4-FFF2-40B4-BE49-F238E27FC236}">
                <a16:creationId xmlns:a16="http://schemas.microsoft.com/office/drawing/2014/main" id="{3C360D5F-7B9A-E2FA-060D-9CE480DF9BAD}"/>
              </a:ext>
            </a:extLst>
          </p:cNvPr>
          <p:cNvPicPr>
            <a:picLocks noChangeAspect="1"/>
          </p:cNvPicPr>
          <p:nvPr/>
        </p:nvPicPr>
        <p:blipFill>
          <a:blip r:embed="rId3"/>
          <a:srcRect l="19504" t="34459" r="23106"/>
          <a:stretch>
            <a:fillRect/>
          </a:stretch>
        </p:blipFill>
        <p:spPr>
          <a:xfrm>
            <a:off x="6355381" y="1710197"/>
            <a:ext cx="6013600" cy="4092985"/>
          </a:xfrm>
          <a:prstGeom prst="rect">
            <a:avLst/>
          </a:prstGeom>
        </p:spPr>
      </p:pic>
      <p:sp>
        <p:nvSpPr>
          <p:cNvPr id="12" name="TextBox 11">
            <a:extLst>
              <a:ext uri="{FF2B5EF4-FFF2-40B4-BE49-F238E27FC236}">
                <a16:creationId xmlns:a16="http://schemas.microsoft.com/office/drawing/2014/main" id="{6475BAB8-5169-5B93-FCE2-FCEB86275BAD}"/>
              </a:ext>
            </a:extLst>
          </p:cNvPr>
          <p:cNvSpPr txBox="1"/>
          <p:nvPr/>
        </p:nvSpPr>
        <p:spPr>
          <a:xfrm>
            <a:off x="6355381" y="1391971"/>
            <a:ext cx="1983235" cy="307777"/>
          </a:xfrm>
          <a:prstGeom prst="rect">
            <a:avLst/>
          </a:prstGeom>
          <a:noFill/>
        </p:spPr>
        <p:txBody>
          <a:bodyPr wrap="none" rtlCol="0">
            <a:spAutoFit/>
          </a:bodyPr>
          <a:lstStyle/>
          <a:p>
            <a:r>
              <a:rPr lang="en-IN" dirty="0"/>
              <a:t>Feature Map summary</a:t>
            </a:r>
          </a:p>
        </p:txBody>
      </p:sp>
    </p:spTree>
    <p:extLst>
      <p:ext uri="{BB962C8B-B14F-4D97-AF65-F5344CB8AC3E}">
        <p14:creationId xmlns:p14="http://schemas.microsoft.com/office/powerpoint/2010/main" val="1949892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3754E-BA95-AC67-CDE3-4E30A7B97231}"/>
              </a:ext>
            </a:extLst>
          </p:cNvPr>
          <p:cNvSpPr>
            <a:spLocks noGrp="1"/>
          </p:cNvSpPr>
          <p:nvPr>
            <p:ph type="title"/>
          </p:nvPr>
        </p:nvSpPr>
        <p:spPr>
          <a:xfrm>
            <a:off x="0" y="0"/>
            <a:ext cx="11975689" cy="479579"/>
          </a:xfrm>
        </p:spPr>
        <p:txBody>
          <a:bodyPr>
            <a:normAutofit fontScale="90000"/>
          </a:bodyPr>
          <a:lstStyle/>
          <a:p>
            <a:pPr algn="ctr"/>
            <a:r>
              <a:rPr lang="en-US" sz="3000" dirty="0"/>
              <a:t>Roc curve, confusion matrix, precision recall curve  , threshold chart</a:t>
            </a:r>
            <a:endParaRPr lang="en-IN" sz="3000" dirty="0"/>
          </a:p>
        </p:txBody>
      </p:sp>
      <p:sp>
        <p:nvSpPr>
          <p:cNvPr id="3" name="Text Placeholder 2">
            <a:extLst>
              <a:ext uri="{FF2B5EF4-FFF2-40B4-BE49-F238E27FC236}">
                <a16:creationId xmlns:a16="http://schemas.microsoft.com/office/drawing/2014/main" id="{FF2736FE-9AB5-6666-B692-D6D0EB0AFFCA}"/>
              </a:ext>
            </a:extLst>
          </p:cNvPr>
          <p:cNvSpPr>
            <a:spLocks noGrp="1"/>
          </p:cNvSpPr>
          <p:nvPr>
            <p:ph type="body" idx="1"/>
          </p:nvPr>
        </p:nvSpPr>
        <p:spPr/>
        <p:txBody>
          <a:bodyPr/>
          <a:lstStyle/>
          <a:p>
            <a:endParaRPr lang="en-IN"/>
          </a:p>
        </p:txBody>
      </p:sp>
      <p:pic>
        <p:nvPicPr>
          <p:cNvPr id="7" name="Picture 6">
            <a:extLst>
              <a:ext uri="{FF2B5EF4-FFF2-40B4-BE49-F238E27FC236}">
                <a16:creationId xmlns:a16="http://schemas.microsoft.com/office/drawing/2014/main" id="{972419C5-EC50-D2B8-8EC0-D3F44CFDDA47}"/>
              </a:ext>
            </a:extLst>
          </p:cNvPr>
          <p:cNvPicPr>
            <a:picLocks noChangeAspect="1"/>
          </p:cNvPicPr>
          <p:nvPr/>
        </p:nvPicPr>
        <p:blipFill>
          <a:blip r:embed="rId2"/>
          <a:stretch>
            <a:fillRect/>
          </a:stretch>
        </p:blipFill>
        <p:spPr>
          <a:xfrm>
            <a:off x="137629" y="479579"/>
            <a:ext cx="4845248" cy="3116826"/>
          </a:xfrm>
          <a:prstGeom prst="rect">
            <a:avLst/>
          </a:prstGeom>
        </p:spPr>
      </p:pic>
      <p:pic>
        <p:nvPicPr>
          <p:cNvPr id="11" name="Picture 10">
            <a:extLst>
              <a:ext uri="{FF2B5EF4-FFF2-40B4-BE49-F238E27FC236}">
                <a16:creationId xmlns:a16="http://schemas.microsoft.com/office/drawing/2014/main" id="{CB3E0DB6-CCE5-FC4E-A410-2C5798DF54E0}"/>
              </a:ext>
            </a:extLst>
          </p:cNvPr>
          <p:cNvPicPr>
            <a:picLocks noChangeAspect="1"/>
          </p:cNvPicPr>
          <p:nvPr/>
        </p:nvPicPr>
        <p:blipFill>
          <a:blip r:embed="rId3"/>
          <a:stretch>
            <a:fillRect/>
          </a:stretch>
        </p:blipFill>
        <p:spPr>
          <a:xfrm>
            <a:off x="5336815" y="400732"/>
            <a:ext cx="6491391" cy="3274521"/>
          </a:xfrm>
          <a:prstGeom prst="rect">
            <a:avLst/>
          </a:prstGeom>
        </p:spPr>
      </p:pic>
      <p:pic>
        <p:nvPicPr>
          <p:cNvPr id="15" name="Picture 14">
            <a:extLst>
              <a:ext uri="{FF2B5EF4-FFF2-40B4-BE49-F238E27FC236}">
                <a16:creationId xmlns:a16="http://schemas.microsoft.com/office/drawing/2014/main" id="{9EEDD634-6FAC-BBCF-E83D-B2B49840DD36}"/>
              </a:ext>
            </a:extLst>
          </p:cNvPr>
          <p:cNvPicPr>
            <a:picLocks noChangeAspect="1"/>
          </p:cNvPicPr>
          <p:nvPr/>
        </p:nvPicPr>
        <p:blipFill>
          <a:blip r:embed="rId4"/>
          <a:stretch>
            <a:fillRect/>
          </a:stretch>
        </p:blipFill>
        <p:spPr>
          <a:xfrm>
            <a:off x="137629" y="3498880"/>
            <a:ext cx="5199186" cy="3295913"/>
          </a:xfrm>
          <a:prstGeom prst="rect">
            <a:avLst/>
          </a:prstGeom>
        </p:spPr>
      </p:pic>
      <p:pic>
        <p:nvPicPr>
          <p:cNvPr id="19" name="Picture 18">
            <a:extLst>
              <a:ext uri="{FF2B5EF4-FFF2-40B4-BE49-F238E27FC236}">
                <a16:creationId xmlns:a16="http://schemas.microsoft.com/office/drawing/2014/main" id="{386A0CCB-414A-2A3A-51BC-0C28041BF504}"/>
              </a:ext>
            </a:extLst>
          </p:cNvPr>
          <p:cNvPicPr>
            <a:picLocks noChangeAspect="1"/>
          </p:cNvPicPr>
          <p:nvPr/>
        </p:nvPicPr>
        <p:blipFill>
          <a:blip r:embed="rId5"/>
          <a:stretch>
            <a:fillRect/>
          </a:stretch>
        </p:blipFill>
        <p:spPr>
          <a:xfrm>
            <a:off x="5690753" y="3675253"/>
            <a:ext cx="6010635" cy="2911284"/>
          </a:xfrm>
          <a:prstGeom prst="rect">
            <a:avLst/>
          </a:prstGeom>
        </p:spPr>
      </p:pic>
    </p:spTree>
    <p:extLst>
      <p:ext uri="{BB962C8B-B14F-4D97-AF65-F5344CB8AC3E}">
        <p14:creationId xmlns:p14="http://schemas.microsoft.com/office/powerpoint/2010/main" val="619206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8059268" y="0"/>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
        <p:nvSpPr>
          <p:cNvPr id="3" name="TextBox 2">
            <a:extLst>
              <a:ext uri="{FF2B5EF4-FFF2-40B4-BE49-F238E27FC236}">
                <a16:creationId xmlns:a16="http://schemas.microsoft.com/office/drawing/2014/main" id="{545A92CF-2696-1872-54D0-AD28750A3D10}"/>
              </a:ext>
            </a:extLst>
          </p:cNvPr>
          <p:cNvSpPr txBox="1"/>
          <p:nvPr/>
        </p:nvSpPr>
        <p:spPr>
          <a:xfrm>
            <a:off x="7816645" y="425068"/>
            <a:ext cx="5574890" cy="6340197"/>
          </a:xfrm>
          <a:prstGeom prst="rect">
            <a:avLst/>
          </a:prstGeom>
          <a:noFill/>
        </p:spPr>
        <p:txBody>
          <a:bodyPr wrap="square" rtlCol="0">
            <a:spAutoFit/>
          </a:bodyPr>
          <a:lstStyle/>
          <a:p>
            <a:r>
              <a:rPr lang="en-IN" dirty="0"/>
              <a:t>┌──────────────────────┐</a:t>
            </a:r>
          </a:p>
          <a:p>
            <a:r>
              <a:rPr lang="en-IN" dirty="0"/>
              <a:t>│   User Dashboard     │</a:t>
            </a:r>
          </a:p>
          <a:p>
            <a:r>
              <a:rPr lang="en-IN" dirty="0"/>
              <a:t>│ (HTML/CSS/JS Frontend)</a:t>
            </a:r>
          </a:p>
          <a:p>
            <a:r>
              <a:rPr lang="en-IN" dirty="0"/>
              <a:t>└──────────┬───────────┘</a:t>
            </a:r>
          </a:p>
          <a:p>
            <a:r>
              <a:rPr lang="en-IN" dirty="0"/>
              <a:t>           │ HTTPS</a:t>
            </a:r>
          </a:p>
          <a:p>
            <a:r>
              <a:rPr lang="en-IN" dirty="0"/>
              <a:t>           ▼</a:t>
            </a:r>
          </a:p>
          <a:p>
            <a:r>
              <a:rPr lang="en-IN" dirty="0"/>
              <a:t>┌──────────────────────┐</a:t>
            </a:r>
          </a:p>
          <a:p>
            <a:r>
              <a:rPr lang="en-IN" dirty="0"/>
              <a:t>│ Node.js + Express API│</a:t>
            </a:r>
          </a:p>
          <a:p>
            <a:r>
              <a:rPr lang="en-IN" dirty="0"/>
              <a:t>│ Input Validation     │</a:t>
            </a:r>
          </a:p>
          <a:p>
            <a:r>
              <a:rPr lang="en-IN" dirty="0"/>
              <a:t>│ Authentication       │</a:t>
            </a:r>
          </a:p>
          <a:p>
            <a:r>
              <a:rPr lang="en-IN" dirty="0"/>
              <a:t>└──────────┬───────────┘</a:t>
            </a:r>
          </a:p>
          <a:p>
            <a:r>
              <a:rPr lang="en-IN" dirty="0"/>
              <a:t>           │</a:t>
            </a:r>
          </a:p>
          <a:p>
            <a:r>
              <a:rPr lang="en-IN" dirty="0"/>
              <a:t>           ▼</a:t>
            </a:r>
          </a:p>
          <a:p>
            <a:r>
              <a:rPr lang="en-IN" dirty="0"/>
              <a:t>┌──────────────────────┐</a:t>
            </a:r>
          </a:p>
          <a:p>
            <a:r>
              <a:rPr lang="en-IN" dirty="0"/>
              <a:t>│ IBM Cloud IAM        │</a:t>
            </a:r>
          </a:p>
          <a:p>
            <a:r>
              <a:rPr lang="en-IN" dirty="0"/>
              <a:t>│ OAuth Token Service  │</a:t>
            </a:r>
          </a:p>
          <a:p>
            <a:r>
              <a:rPr lang="en-IN" dirty="0"/>
              <a:t>└──────────┬───────────┘</a:t>
            </a:r>
          </a:p>
          <a:p>
            <a:r>
              <a:rPr lang="en-IN" dirty="0"/>
              <a:t>           │</a:t>
            </a:r>
          </a:p>
          <a:p>
            <a:r>
              <a:rPr lang="en-IN" dirty="0"/>
              <a:t>           ▼</a:t>
            </a:r>
          </a:p>
          <a:p>
            <a:r>
              <a:rPr lang="en-IN" dirty="0"/>
              <a:t>┌──────────────────────┐</a:t>
            </a:r>
          </a:p>
          <a:p>
            <a:r>
              <a:rPr lang="en-IN" dirty="0"/>
              <a:t>│ IBM Watson ML        │</a:t>
            </a:r>
          </a:p>
          <a:p>
            <a:r>
              <a:rPr lang="en-IN" dirty="0"/>
              <a:t>│ </a:t>
            </a:r>
            <a:r>
              <a:rPr lang="en-IN" dirty="0" err="1"/>
              <a:t>XGBoost</a:t>
            </a:r>
            <a:r>
              <a:rPr lang="en-IN" dirty="0"/>
              <a:t> Classifier   │</a:t>
            </a:r>
          </a:p>
          <a:p>
            <a:r>
              <a:rPr lang="en-IN" dirty="0"/>
              <a:t>└──────────┬───────────┘</a:t>
            </a:r>
          </a:p>
          <a:p>
            <a:r>
              <a:rPr lang="en-IN" dirty="0"/>
              <a:t>           │</a:t>
            </a:r>
          </a:p>
          <a:p>
            <a:r>
              <a:rPr lang="en-IN" dirty="0"/>
              <a:t>           ▼</a:t>
            </a:r>
          </a:p>
          <a:p>
            <a:r>
              <a:rPr lang="en-IN" dirty="0"/>
              <a:t>┌──────────────────────┐</a:t>
            </a:r>
          </a:p>
          <a:p>
            <a:r>
              <a:rPr lang="en-IN" dirty="0"/>
              <a:t>│ Prediction Results   │</a:t>
            </a:r>
          </a:p>
          <a:p>
            <a:r>
              <a:rPr lang="en-IN" dirty="0"/>
              <a:t>│ PMGSY Scheme Output  │</a:t>
            </a:r>
          </a:p>
          <a:p>
            <a:r>
              <a:rPr lang="en-IN" dirty="0"/>
              <a:t>└──────────────────────┘</a:t>
            </a:r>
          </a:p>
        </p:txBody>
      </p:sp>
      <p:sp>
        <p:nvSpPr>
          <p:cNvPr id="4" name="TextBox 3">
            <a:extLst>
              <a:ext uri="{FF2B5EF4-FFF2-40B4-BE49-F238E27FC236}">
                <a16:creationId xmlns:a16="http://schemas.microsoft.com/office/drawing/2014/main" id="{32023843-C493-9AD5-D8FB-95022B776AC9}"/>
              </a:ext>
            </a:extLst>
          </p:cNvPr>
          <p:cNvSpPr txBox="1"/>
          <p:nvPr/>
        </p:nvSpPr>
        <p:spPr>
          <a:xfrm>
            <a:off x="1307690" y="1307689"/>
            <a:ext cx="3834581" cy="3754874"/>
          </a:xfrm>
          <a:prstGeom prst="rect">
            <a:avLst/>
          </a:prstGeom>
          <a:noFill/>
        </p:spPr>
        <p:txBody>
          <a:bodyPr wrap="square" rtlCol="0">
            <a:spAutoFit/>
          </a:bodyPr>
          <a:lstStyle/>
          <a:p>
            <a:r>
              <a:rPr lang="en-IN" dirty="0"/>
              <a:t>PMGSY Dataset</a:t>
            </a:r>
          </a:p>
          <a:p>
            <a:r>
              <a:rPr lang="en-IN" dirty="0"/>
              <a:t>      ↓</a:t>
            </a:r>
          </a:p>
          <a:p>
            <a:r>
              <a:rPr lang="en-IN" dirty="0"/>
              <a:t>Data Preprocessing</a:t>
            </a:r>
          </a:p>
          <a:p>
            <a:r>
              <a:rPr lang="en-IN" dirty="0"/>
              <a:t>      ↓</a:t>
            </a:r>
          </a:p>
          <a:p>
            <a:r>
              <a:rPr lang="en-IN" dirty="0"/>
              <a:t>Feature Selection</a:t>
            </a:r>
          </a:p>
          <a:p>
            <a:r>
              <a:rPr lang="en-IN" dirty="0"/>
              <a:t>      ↓</a:t>
            </a:r>
          </a:p>
          <a:p>
            <a:r>
              <a:rPr lang="en-IN" dirty="0" err="1"/>
              <a:t>XGBoost</a:t>
            </a:r>
            <a:r>
              <a:rPr lang="en-IN" dirty="0"/>
              <a:t> Model Training</a:t>
            </a:r>
          </a:p>
          <a:p>
            <a:r>
              <a:rPr lang="en-IN" dirty="0"/>
              <a:t>      ↓</a:t>
            </a:r>
          </a:p>
          <a:p>
            <a:r>
              <a:rPr lang="en-IN" dirty="0"/>
              <a:t>IBM Watson Machine Learning Deployment</a:t>
            </a:r>
          </a:p>
          <a:p>
            <a:r>
              <a:rPr lang="en-IN" dirty="0"/>
              <a:t>      ↓</a:t>
            </a:r>
          </a:p>
          <a:p>
            <a:r>
              <a:rPr lang="en-IN" dirty="0"/>
              <a:t>Node.js / Express Backend</a:t>
            </a:r>
          </a:p>
          <a:p>
            <a:r>
              <a:rPr lang="en-IN" dirty="0"/>
              <a:t>      ↓</a:t>
            </a:r>
          </a:p>
          <a:p>
            <a:r>
              <a:rPr lang="en-IN" dirty="0"/>
              <a:t>Prediction API</a:t>
            </a:r>
          </a:p>
          <a:p>
            <a:r>
              <a:rPr lang="en-IN" dirty="0"/>
              <a:t>      ↓</a:t>
            </a:r>
          </a:p>
          <a:p>
            <a:r>
              <a:rPr lang="en-IN" dirty="0"/>
              <a:t>Web Dashboard</a:t>
            </a:r>
          </a:p>
          <a:p>
            <a:r>
              <a:rPr lang="en-IN" dirty="0"/>
              <a:t>      ↓</a:t>
            </a:r>
          </a:p>
          <a:p>
            <a:r>
              <a:rPr lang="en-IN" dirty="0"/>
              <a:t>PMGSY Scheme Prediction</a:t>
            </a:r>
          </a:p>
        </p:txBody>
      </p:sp>
      <p:sp>
        <p:nvSpPr>
          <p:cNvPr id="5" name="TextBox 4">
            <a:extLst>
              <a:ext uri="{FF2B5EF4-FFF2-40B4-BE49-F238E27FC236}">
                <a16:creationId xmlns:a16="http://schemas.microsoft.com/office/drawing/2014/main" id="{C0B5AC88-8397-A216-A88C-4B58AAE475E9}"/>
              </a:ext>
            </a:extLst>
          </p:cNvPr>
          <p:cNvSpPr txBox="1"/>
          <p:nvPr/>
        </p:nvSpPr>
        <p:spPr>
          <a:xfrm>
            <a:off x="993058" y="609600"/>
            <a:ext cx="2577433" cy="400110"/>
          </a:xfrm>
          <a:prstGeom prst="rect">
            <a:avLst/>
          </a:prstGeom>
          <a:noFill/>
        </p:spPr>
        <p:txBody>
          <a:bodyPr wrap="square" rtlCol="0">
            <a:spAutoFit/>
          </a:bodyPr>
          <a:lstStyle/>
          <a:p>
            <a:r>
              <a:rPr lang="en-IN" sz="2000" b="1" dirty="0"/>
              <a:t>Project workflow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E2560-EA3B-3E67-A1D0-793AB3C931E7}"/>
              </a:ext>
            </a:extLst>
          </p:cNvPr>
          <p:cNvSpPr>
            <a:spLocks noGrp="1"/>
          </p:cNvSpPr>
          <p:nvPr>
            <p:ph type="title"/>
          </p:nvPr>
        </p:nvSpPr>
        <p:spPr>
          <a:xfrm>
            <a:off x="399231" y="294968"/>
            <a:ext cx="10515600" cy="560746"/>
          </a:xfrm>
        </p:spPr>
        <p:txBody>
          <a:bodyPr/>
          <a:lstStyle/>
          <a:p>
            <a:pPr algn="ctr"/>
            <a:r>
              <a:rPr lang="en-IN" sz="3000" b="1" u="sng" dirty="0"/>
              <a:t>Deployment  </a:t>
            </a:r>
            <a:r>
              <a:rPr lang="en-IN" sz="3000" u="sng" dirty="0"/>
              <a:t>(deployed on render)</a:t>
            </a:r>
            <a:endParaRPr lang="en-IN" u="sng" dirty="0"/>
          </a:p>
        </p:txBody>
      </p:sp>
      <p:sp>
        <p:nvSpPr>
          <p:cNvPr id="3" name="Text Placeholder 2">
            <a:extLst>
              <a:ext uri="{FF2B5EF4-FFF2-40B4-BE49-F238E27FC236}">
                <a16:creationId xmlns:a16="http://schemas.microsoft.com/office/drawing/2014/main" id="{1C5332F1-C291-47D5-7E46-82987356F15B}"/>
              </a:ext>
            </a:extLst>
          </p:cNvPr>
          <p:cNvSpPr>
            <a:spLocks noGrp="1"/>
          </p:cNvSpPr>
          <p:nvPr>
            <p:ph type="body" idx="1"/>
          </p:nvPr>
        </p:nvSpPr>
        <p:spPr>
          <a:xfrm>
            <a:off x="8740877" y="1600457"/>
            <a:ext cx="3352800" cy="1500187"/>
          </a:xfrm>
        </p:spPr>
        <p:txBody>
          <a:bodyPr>
            <a:normAutofit fontScale="92500"/>
          </a:bodyPr>
          <a:lstStyle/>
          <a:p>
            <a:r>
              <a:rPr lang="en-IN" dirty="0">
                <a:solidFill>
                  <a:schemeClr val="tx1"/>
                </a:solidFill>
              </a:rPr>
              <a:t>Deployment link:-</a:t>
            </a:r>
          </a:p>
          <a:p>
            <a:r>
              <a:rPr lang="en-IN" dirty="0">
                <a:hlinkClick r:id="rId2"/>
              </a:rPr>
              <a:t>https://pmgsy-classifier.onrender.com</a:t>
            </a:r>
            <a:endParaRPr lang="en-IN" dirty="0"/>
          </a:p>
        </p:txBody>
      </p:sp>
      <p:pic>
        <p:nvPicPr>
          <p:cNvPr id="7" name="Picture 6">
            <a:extLst>
              <a:ext uri="{FF2B5EF4-FFF2-40B4-BE49-F238E27FC236}">
                <a16:creationId xmlns:a16="http://schemas.microsoft.com/office/drawing/2014/main" id="{4B3BE7AF-CCF2-94DC-7DEA-1C3F8EAB528F}"/>
              </a:ext>
            </a:extLst>
          </p:cNvPr>
          <p:cNvPicPr>
            <a:picLocks noChangeAspect="1"/>
          </p:cNvPicPr>
          <p:nvPr/>
        </p:nvPicPr>
        <p:blipFill>
          <a:blip r:embed="rId3"/>
          <a:srcRect t="12477"/>
          <a:stretch>
            <a:fillRect/>
          </a:stretch>
        </p:blipFill>
        <p:spPr>
          <a:xfrm>
            <a:off x="0" y="1372153"/>
            <a:ext cx="9026013" cy="4443628"/>
          </a:xfrm>
          <a:prstGeom prst="rect">
            <a:avLst/>
          </a:prstGeom>
        </p:spPr>
      </p:pic>
    </p:spTree>
    <p:extLst>
      <p:ext uri="{BB962C8B-B14F-4D97-AF65-F5344CB8AC3E}">
        <p14:creationId xmlns:p14="http://schemas.microsoft.com/office/powerpoint/2010/main" val="3342419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E1CEA-5063-2B3C-FCCC-085BCA2D52BA}"/>
              </a:ext>
            </a:extLst>
          </p:cNvPr>
          <p:cNvSpPr>
            <a:spLocks noGrp="1"/>
          </p:cNvSpPr>
          <p:nvPr>
            <p:ph type="title"/>
          </p:nvPr>
        </p:nvSpPr>
        <p:spPr>
          <a:xfrm>
            <a:off x="163257" y="0"/>
            <a:ext cx="10515600" cy="443885"/>
          </a:xfrm>
        </p:spPr>
        <p:txBody>
          <a:bodyPr>
            <a:normAutofit fontScale="90000"/>
          </a:bodyPr>
          <a:lstStyle/>
          <a:p>
            <a:r>
              <a:rPr lang="en-IN" sz="3000" dirty="0"/>
              <a:t>Web interface and working</a:t>
            </a:r>
          </a:p>
        </p:txBody>
      </p:sp>
      <p:sp>
        <p:nvSpPr>
          <p:cNvPr id="3" name="Text Placeholder 2">
            <a:extLst>
              <a:ext uri="{FF2B5EF4-FFF2-40B4-BE49-F238E27FC236}">
                <a16:creationId xmlns:a16="http://schemas.microsoft.com/office/drawing/2014/main" id="{44EB84CB-E04A-1021-F809-919BB552469D}"/>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E65F4BE9-DE41-9A4F-6403-5809D394ADA0}"/>
              </a:ext>
            </a:extLst>
          </p:cNvPr>
          <p:cNvPicPr>
            <a:picLocks noChangeAspect="1"/>
          </p:cNvPicPr>
          <p:nvPr/>
        </p:nvPicPr>
        <p:blipFill>
          <a:blip r:embed="rId2"/>
          <a:stretch>
            <a:fillRect/>
          </a:stretch>
        </p:blipFill>
        <p:spPr>
          <a:xfrm>
            <a:off x="0" y="609762"/>
            <a:ext cx="5997301" cy="5479888"/>
          </a:xfrm>
          <a:prstGeom prst="rect">
            <a:avLst/>
          </a:prstGeom>
        </p:spPr>
      </p:pic>
      <p:pic>
        <p:nvPicPr>
          <p:cNvPr id="9" name="Picture 8">
            <a:extLst>
              <a:ext uri="{FF2B5EF4-FFF2-40B4-BE49-F238E27FC236}">
                <a16:creationId xmlns:a16="http://schemas.microsoft.com/office/drawing/2014/main" id="{C993A123-14B8-5C81-C231-C02F803C2D21}"/>
              </a:ext>
            </a:extLst>
          </p:cNvPr>
          <p:cNvPicPr>
            <a:picLocks noChangeAspect="1"/>
          </p:cNvPicPr>
          <p:nvPr/>
        </p:nvPicPr>
        <p:blipFill>
          <a:blip r:embed="rId3"/>
          <a:stretch>
            <a:fillRect/>
          </a:stretch>
        </p:blipFill>
        <p:spPr>
          <a:xfrm>
            <a:off x="5997301" y="609762"/>
            <a:ext cx="6181999" cy="5479888"/>
          </a:xfrm>
          <a:prstGeom prst="rect">
            <a:avLst/>
          </a:prstGeom>
        </p:spPr>
      </p:pic>
    </p:spTree>
    <p:extLst>
      <p:ext uri="{BB962C8B-B14F-4D97-AF65-F5344CB8AC3E}">
        <p14:creationId xmlns:p14="http://schemas.microsoft.com/office/powerpoint/2010/main" val="311428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E8530-2AAA-49BA-7D30-84FCEE36194E}"/>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6256E399-0DE3-301D-E667-1FAF17EF019F}"/>
              </a:ext>
            </a:extLst>
          </p:cNvPr>
          <p:cNvSpPr>
            <a:spLocks noGrp="1"/>
          </p:cNvSpPr>
          <p:nvPr>
            <p:ph type="body" idx="1"/>
          </p:nvPr>
        </p:nvSpPr>
        <p:spPr/>
        <p:txBody>
          <a:bodyPr/>
          <a:lstStyle/>
          <a:p>
            <a:endParaRPr lang="en-IN"/>
          </a:p>
        </p:txBody>
      </p:sp>
      <p:pic>
        <p:nvPicPr>
          <p:cNvPr id="11" name="Picture 10">
            <a:extLst>
              <a:ext uri="{FF2B5EF4-FFF2-40B4-BE49-F238E27FC236}">
                <a16:creationId xmlns:a16="http://schemas.microsoft.com/office/drawing/2014/main" id="{96CF190D-FC01-4D95-EB61-655A039D44EB}"/>
              </a:ext>
            </a:extLst>
          </p:cNvPr>
          <p:cNvPicPr>
            <a:picLocks noChangeAspect="1"/>
          </p:cNvPicPr>
          <p:nvPr/>
        </p:nvPicPr>
        <p:blipFill>
          <a:blip r:embed="rId2"/>
          <a:srcRect b="77348"/>
          <a:stretch>
            <a:fillRect/>
          </a:stretch>
        </p:blipFill>
        <p:spPr>
          <a:xfrm>
            <a:off x="2639755" y="0"/>
            <a:ext cx="6912490" cy="1553497"/>
          </a:xfrm>
          <a:prstGeom prst="rect">
            <a:avLst/>
          </a:prstGeom>
        </p:spPr>
      </p:pic>
      <p:pic>
        <p:nvPicPr>
          <p:cNvPr id="15" name="Picture 14">
            <a:extLst>
              <a:ext uri="{FF2B5EF4-FFF2-40B4-BE49-F238E27FC236}">
                <a16:creationId xmlns:a16="http://schemas.microsoft.com/office/drawing/2014/main" id="{91FF40D9-CB7E-3E3B-4BF7-13CB043F98F1}"/>
              </a:ext>
            </a:extLst>
          </p:cNvPr>
          <p:cNvPicPr>
            <a:picLocks noChangeAspect="1"/>
          </p:cNvPicPr>
          <p:nvPr/>
        </p:nvPicPr>
        <p:blipFill>
          <a:blip r:embed="rId3"/>
          <a:stretch>
            <a:fillRect/>
          </a:stretch>
        </p:blipFill>
        <p:spPr>
          <a:xfrm>
            <a:off x="239969" y="1524640"/>
            <a:ext cx="5734050" cy="5191125"/>
          </a:xfrm>
          <a:prstGeom prst="rect">
            <a:avLst/>
          </a:prstGeom>
        </p:spPr>
      </p:pic>
      <p:pic>
        <p:nvPicPr>
          <p:cNvPr id="19" name="Picture 18">
            <a:extLst>
              <a:ext uri="{FF2B5EF4-FFF2-40B4-BE49-F238E27FC236}">
                <a16:creationId xmlns:a16="http://schemas.microsoft.com/office/drawing/2014/main" id="{F2B38EC5-B1C9-E462-79FA-2D862B93D78A}"/>
              </a:ext>
            </a:extLst>
          </p:cNvPr>
          <p:cNvPicPr>
            <a:picLocks noChangeAspect="1"/>
          </p:cNvPicPr>
          <p:nvPr/>
        </p:nvPicPr>
        <p:blipFill>
          <a:blip r:embed="rId4"/>
          <a:stretch>
            <a:fillRect/>
          </a:stretch>
        </p:blipFill>
        <p:spPr>
          <a:xfrm>
            <a:off x="6096000" y="1524640"/>
            <a:ext cx="5992184" cy="5194790"/>
          </a:xfrm>
          <a:prstGeom prst="rect">
            <a:avLst/>
          </a:prstGeom>
        </p:spPr>
      </p:pic>
    </p:spTree>
    <p:extLst>
      <p:ext uri="{BB962C8B-B14F-4D97-AF65-F5344CB8AC3E}">
        <p14:creationId xmlns:p14="http://schemas.microsoft.com/office/powerpoint/2010/main" val="2174186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32092"/>
          </a:xfrm>
          <a:prstGeom prst="rect">
            <a:avLst/>
          </a:prstGeom>
          <a:noFill/>
        </p:spPr>
        <p:txBody>
          <a:bodyPr wrap="square" rtlCol="0">
            <a:spAutoFit/>
          </a:bodyPr>
          <a:lstStyle/>
          <a:p>
            <a:r>
              <a:rPr lang="en-IN" b="1" dirty="0"/>
              <a:t>Role of AI in the Solution</a:t>
            </a:r>
          </a:p>
          <a:p>
            <a:endParaRPr lang="en-IN" b="1" dirty="0"/>
          </a:p>
          <a:p>
            <a:r>
              <a:rPr lang="en-IN" dirty="0"/>
              <a:t>Artificial Intelligence serves as the core decision-making component of the PMGSY Project Classification System. The solution utilizes a trained </a:t>
            </a:r>
            <a:r>
              <a:rPr lang="en-IN" dirty="0" err="1"/>
              <a:t>XGBoost</a:t>
            </a:r>
            <a:r>
              <a:rPr lang="en-IN" dirty="0"/>
              <a:t> machine learning model to </a:t>
            </a:r>
            <a:r>
              <a:rPr lang="en-IN" dirty="0" err="1"/>
              <a:t>analyze</a:t>
            </a:r>
            <a:r>
              <a:rPr lang="en-IN" dirty="0"/>
              <a:t> project-specific characteristics and automatically classify infrastructure projects into their appropriate PMGSY schemes.</a:t>
            </a:r>
          </a:p>
          <a:p>
            <a:r>
              <a:rPr lang="en-IN" dirty="0"/>
              <a:t>The AI model learns patterns from historical PMGSY project data, including administrative information, sanctioned work metrics, financial expenditures, completed assets, and remaining project backlogs. By identifying complex relationships among these parameters, the system can accurately predict the most suitable scheme category for new projects.</a:t>
            </a:r>
          </a:p>
          <a:p>
            <a:r>
              <a:rPr lang="en-IN" dirty="0"/>
              <a:t>Unlike manual classification methods, the AI-driven approach provides faster, more consistent, and scalable decision-making. The model processes project data in real time and generates instant predictions through IBM Watson Machine Learning, reducing administrative effort and minimizing classification errors.</a:t>
            </a:r>
          </a:p>
          <a:p>
            <a:r>
              <a:rPr lang="en-IN" dirty="0"/>
              <a:t>The integration of AI enables:</a:t>
            </a:r>
          </a:p>
          <a:p>
            <a:r>
              <a:rPr lang="en-IN" dirty="0"/>
              <a:t>Automated PMGSY scheme classification.</a:t>
            </a:r>
          </a:p>
          <a:p>
            <a:r>
              <a:rPr lang="en-IN" dirty="0"/>
              <a:t>Faster processing of large volumes of project records.</a:t>
            </a:r>
          </a:p>
          <a:p>
            <a:r>
              <a:rPr lang="en-IN" dirty="0"/>
              <a:t>Improved accuracy and consistency in project categorization.</a:t>
            </a:r>
          </a:p>
          <a:p>
            <a:r>
              <a:rPr lang="en-IN" dirty="0"/>
              <a:t>Data-driven decision support for government agencies and infrastructure planners.</a:t>
            </a:r>
          </a:p>
          <a:p>
            <a:r>
              <a:rPr lang="en-IN" dirty="0"/>
              <a:t>Real-time predictions through cloud-based deployment.</a:t>
            </a:r>
          </a:p>
          <a:p>
            <a:r>
              <a:rPr lang="en-IN" dirty="0"/>
              <a:t>Overall, AI transforms the classification process from a manual and time-consuming task into an intelligent, efficient, and scalable solution for managing rural infrastructure projects.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r>
              <a:rPr lang="en-IN" sz="1800" b="1" dirty="0"/>
              <a:t>IBM Watson Studio </a:t>
            </a:r>
            <a:r>
              <a:rPr lang="en-IN" sz="1800" b="1" dirty="0" err="1"/>
              <a:t>AutoAI</a:t>
            </a:r>
            <a:endParaRPr lang="en-IN" sz="1800" b="1" dirty="0"/>
          </a:p>
          <a:p>
            <a:r>
              <a:rPr lang="en-IN" sz="1800" dirty="0"/>
              <a:t>Automates data preparation, model selection, and optimization to build the best classification model.</a:t>
            </a:r>
          </a:p>
          <a:p>
            <a:r>
              <a:rPr lang="en-IN" sz="1800" b="1" dirty="0" err="1"/>
              <a:t>XGBoost</a:t>
            </a:r>
            <a:r>
              <a:rPr lang="en-IN" sz="1800" b="1" dirty="0"/>
              <a:t> Classifier</a:t>
            </a:r>
          </a:p>
          <a:p>
            <a:r>
              <a:rPr lang="en-IN" sz="1800" dirty="0"/>
              <a:t>The machine learning algorithm used to predict the correct PMGSY scheme based on project data.</a:t>
            </a:r>
          </a:p>
          <a:p>
            <a:r>
              <a:rPr lang="en-IN" sz="1800" b="1" dirty="0"/>
              <a:t>IBM Watson Machine Learning</a:t>
            </a:r>
          </a:p>
          <a:p>
            <a:r>
              <a:rPr lang="en-IN" sz="1800" dirty="0"/>
              <a:t>Deploys the trained model and provides real-time predictions through cloud APIs.</a:t>
            </a:r>
          </a:p>
          <a:p>
            <a:r>
              <a:rPr lang="en-IN" sz="1800" b="1" dirty="0"/>
              <a:t>IBM Cloud</a:t>
            </a:r>
          </a:p>
          <a:p>
            <a:r>
              <a:rPr lang="en-IN" sz="1800" dirty="0"/>
              <a:t>Provides secure and scalable infrastructure for hosting and managing AI services.</a:t>
            </a:r>
          </a:p>
          <a:p>
            <a:r>
              <a:rPr lang="en-IN" sz="1800" b="1" dirty="0"/>
              <a:t>IBM Cloud IAM (OAuth 2.0)</a:t>
            </a:r>
          </a:p>
          <a:p>
            <a:r>
              <a:rPr lang="en-IN" sz="1800" dirty="0"/>
              <a:t>Ensures secure access to the deployed machine learning model using authentication tokens.</a:t>
            </a:r>
          </a:p>
          <a:p>
            <a:r>
              <a:rPr lang="en-IN" sz="1800" b="1" dirty="0"/>
              <a:t>REST APIs</a:t>
            </a:r>
          </a:p>
          <a:p>
            <a:r>
              <a:rPr lang="en-IN" sz="1800" dirty="0"/>
              <a:t>Enable communication between the application and the deployed AI model for real-time predictions.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98582" y="0"/>
            <a:ext cx="7123176" cy="461665"/>
          </a:xfrm>
          <a:prstGeom prst="rect">
            <a:avLst/>
          </a:prstGeom>
          <a:noFill/>
        </p:spPr>
        <p:txBody>
          <a:bodyPr wrap="square" rtlCol="0">
            <a:spAutoFit/>
          </a:bodyPr>
          <a:lstStyle/>
          <a:p>
            <a:r>
              <a:rPr lang="en-US" sz="2400" b="1" u="sng" dirty="0"/>
              <a:t>Novelty and Uniqueness</a:t>
            </a:r>
            <a:endParaRPr lang="en-IN" sz="2400" b="1" u="sng"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21601" y="626904"/>
            <a:ext cx="11301984" cy="6124754"/>
          </a:xfrm>
          <a:prstGeom prst="rect">
            <a:avLst/>
          </a:prstGeom>
          <a:noFill/>
        </p:spPr>
        <p:txBody>
          <a:bodyPr wrap="square" rtlCol="0">
            <a:spAutoFit/>
          </a:bodyPr>
          <a:lstStyle/>
          <a:p>
            <a:pPr marL="285750" indent="-285750">
              <a:buFont typeface="Arial" panose="020B0604020202020204" pitchFamily="34" charset="0"/>
              <a:buChar char="•"/>
            </a:pPr>
            <a:r>
              <a:rPr lang="en-IN" sz="1800" b="1" dirty="0"/>
              <a:t>Automated PMGSY Scheme Classification</a:t>
            </a:r>
          </a:p>
          <a:p>
            <a:r>
              <a:rPr lang="en-IN" sz="1800" dirty="0"/>
              <a:t>Automatically classifies rural infrastructure projects into the correct PMGSY scheme, reducing manual effort and classification errors.</a:t>
            </a:r>
          </a:p>
          <a:p>
            <a:pPr marL="285750" indent="-285750">
              <a:buFont typeface="Arial" panose="020B0604020202020204" pitchFamily="34" charset="0"/>
              <a:buChar char="•"/>
            </a:pPr>
            <a:r>
              <a:rPr lang="en-IN" sz="1800" b="1" dirty="0"/>
              <a:t>AI-Driven Decision Making</a:t>
            </a:r>
          </a:p>
          <a:p>
            <a:r>
              <a:rPr lang="en-IN" sz="1800" dirty="0"/>
              <a:t>Uses an </a:t>
            </a:r>
            <a:r>
              <a:rPr lang="en-IN" sz="1800" dirty="0" err="1"/>
              <a:t>XGBoost</a:t>
            </a:r>
            <a:r>
              <a:rPr lang="en-IN" sz="1800" dirty="0"/>
              <a:t> machine learning model to identify complex patterns in project data and provide accurate scheme predictions.</a:t>
            </a:r>
          </a:p>
          <a:p>
            <a:pPr marL="285750" indent="-285750">
              <a:buFont typeface="Arial" panose="020B0604020202020204" pitchFamily="34" charset="0"/>
              <a:buChar char="•"/>
            </a:pPr>
            <a:r>
              <a:rPr lang="en-IN" sz="1800" b="1" dirty="0"/>
              <a:t>Real-Time Cloud Predictions</a:t>
            </a:r>
          </a:p>
          <a:p>
            <a:r>
              <a:rPr lang="en-IN" sz="1800" dirty="0"/>
              <a:t>Delivers instant classification results through IBM Watson Machine Learning, enabling faster project assessment and monitoring.</a:t>
            </a:r>
          </a:p>
          <a:p>
            <a:pPr marL="285750" indent="-285750">
              <a:buFont typeface="Arial" panose="020B0604020202020204" pitchFamily="34" charset="0"/>
              <a:buChar char="•"/>
            </a:pPr>
            <a:r>
              <a:rPr lang="en-IN" sz="1800" b="1" dirty="0"/>
              <a:t>Data-Driven Infrastructure Analysis</a:t>
            </a:r>
          </a:p>
          <a:p>
            <a:r>
              <a:rPr lang="en-IN" sz="1800" dirty="0" err="1"/>
              <a:t>Analyzes</a:t>
            </a:r>
            <a:r>
              <a:rPr lang="en-IN" sz="1800" dirty="0"/>
              <a:t> administrative, financial, and progress-related project parameters to support informed decision-making.</a:t>
            </a:r>
          </a:p>
          <a:p>
            <a:pPr marL="285750" indent="-285750">
              <a:buFont typeface="Arial" panose="020B0604020202020204" pitchFamily="34" charset="0"/>
              <a:buChar char="•"/>
            </a:pPr>
            <a:r>
              <a:rPr lang="en-IN" sz="1800" b="1" dirty="0"/>
              <a:t>Secure Cloud Integration</a:t>
            </a:r>
          </a:p>
          <a:p>
            <a:r>
              <a:rPr lang="en-IN" sz="1800" dirty="0"/>
              <a:t>Implements IBM Cloud authentication and secure API communication, ensuring reliable and protected access to prediction services.</a:t>
            </a:r>
          </a:p>
          <a:p>
            <a:pPr marL="285750" indent="-285750">
              <a:buFont typeface="Arial" panose="020B0604020202020204" pitchFamily="34" charset="0"/>
              <a:buChar char="•"/>
            </a:pPr>
            <a:r>
              <a:rPr lang="en-IN" sz="1800" b="1" dirty="0"/>
              <a:t>Scalable and Practical Solution</a:t>
            </a:r>
          </a:p>
          <a:p>
            <a:r>
              <a:rPr lang="en-IN" sz="1800" dirty="0"/>
              <a:t>Can efficiently process large volumes of infrastructure projects, making it suitable for government agencies and policy analysts.</a:t>
            </a:r>
          </a:p>
          <a:p>
            <a:pPr marL="285750" indent="-285750">
              <a:buFont typeface="Arial" panose="020B0604020202020204" pitchFamily="34" charset="0"/>
              <a:buChar char="•"/>
            </a:pPr>
            <a:r>
              <a:rPr lang="en-IN" sz="1800" b="1" dirty="0"/>
              <a:t>Improved Transparency and Efficiency</a:t>
            </a:r>
          </a:p>
          <a:p>
            <a:r>
              <a:rPr lang="en-IN" sz="1800" dirty="0"/>
              <a:t>Provides consistent project categorization, helping improve monitoring, reporting, and resource allocation within PMGSY programs.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9990050"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400" b="1" dirty="0">
                <a:sym typeface="Times New Roman"/>
              </a:rPr>
              <a:t>Git Hub Link:- </a:t>
            </a:r>
            <a:r>
              <a:rPr lang="en-US" sz="1500" dirty="0">
                <a:sym typeface="Times New Roman"/>
                <a:hlinkClick r:id="rId3"/>
              </a:rPr>
              <a:t>https://github.com/Rayudu-Somisetty/PMGSY-classifier</a:t>
            </a:r>
            <a:endParaRPr sz="1500"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 files tree:-</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PMGSY Classifier Project/</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server.js                 # Express server &amp; IBM integration</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a:t>
            </a:r>
            <a:r>
              <a:rPr lang="en-US" sz="1000" dirty="0" err="1">
                <a:solidFill>
                  <a:srgbClr val="2B3541"/>
                </a:solidFill>
                <a:latin typeface="Times New Roman"/>
                <a:ea typeface="Times New Roman"/>
                <a:cs typeface="Times New Roman"/>
                <a:sym typeface="Times New Roman"/>
              </a:rPr>
              <a:t>package.json</a:t>
            </a:r>
            <a:r>
              <a:rPr lang="en-US" sz="1000" dirty="0">
                <a:solidFill>
                  <a:srgbClr val="2B3541"/>
                </a:solidFill>
                <a:latin typeface="Times New Roman"/>
                <a:ea typeface="Times New Roman"/>
                <a:cs typeface="Times New Roman"/>
                <a:sym typeface="Times New Roman"/>
              </a:rPr>
              <a:t>              # Dependencies configuration</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.env                      # Environment variables (</a:t>
            </a:r>
            <a:r>
              <a:rPr lang="en-US" sz="1000" dirty="0" err="1">
                <a:solidFill>
                  <a:srgbClr val="2B3541"/>
                </a:solidFill>
                <a:latin typeface="Times New Roman"/>
                <a:ea typeface="Times New Roman"/>
                <a:cs typeface="Times New Roman"/>
                <a:sym typeface="Times New Roman"/>
              </a:rPr>
              <a:t>gitignored</a:t>
            </a:r>
            <a:r>
              <a:rPr lang="en-US" sz="1000" dirty="0">
                <a:solidFill>
                  <a:srgbClr val="2B3541"/>
                </a:solidFill>
                <a:latin typeface="Times New Roman"/>
                <a:ea typeface="Times New Roman"/>
                <a:cs typeface="Times New Roman"/>
                <a:sym typeface="Times New Roman"/>
              </a:rPr>
              <a:t>)</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a:t>
            </a:r>
            <a:r>
              <a:rPr lang="en-US" sz="1000" dirty="0" err="1">
                <a:solidFill>
                  <a:srgbClr val="2B3541"/>
                </a:solidFill>
                <a:latin typeface="Times New Roman"/>
                <a:ea typeface="Times New Roman"/>
                <a:cs typeface="Times New Roman"/>
                <a:sym typeface="Times New Roman"/>
              </a:rPr>
              <a:t>env.example</a:t>
            </a:r>
            <a:r>
              <a:rPr lang="en-US" sz="1000" dirty="0">
                <a:solidFill>
                  <a:srgbClr val="2B3541"/>
                </a:solidFill>
                <a:latin typeface="Times New Roman"/>
                <a:ea typeface="Times New Roman"/>
                <a:cs typeface="Times New Roman"/>
                <a:sym typeface="Times New Roman"/>
              </a:rPr>
              <a:t>             # Environment template</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a:t>
            </a:r>
            <a:r>
              <a:rPr lang="en-US" sz="1000" dirty="0" err="1">
                <a:solidFill>
                  <a:srgbClr val="2B3541"/>
                </a:solidFill>
                <a:latin typeface="Times New Roman"/>
                <a:ea typeface="Times New Roman"/>
                <a:cs typeface="Times New Roman"/>
                <a:sym typeface="Times New Roman"/>
              </a:rPr>
              <a:t>gitignore</a:t>
            </a:r>
            <a:r>
              <a:rPr lang="en-US" sz="1000" dirty="0">
                <a:solidFill>
                  <a:srgbClr val="2B3541"/>
                </a:solidFill>
                <a:latin typeface="Times New Roman"/>
                <a:ea typeface="Times New Roman"/>
                <a:cs typeface="Times New Roman"/>
                <a:sym typeface="Times New Roman"/>
              </a:rPr>
              <a:t>               # Git ignore rules</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README.md                # This file</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PMGSY_DATASET.csv    # Sample dataset </a:t>
            </a:r>
          </a:p>
          <a:p>
            <a:pPr>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Project.pptx # project presentation</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Problem statement  35.pdf   # PDF</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public/                  # Frontend assets</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 index.html           # Main HTML form</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 style.css            # Styling (CSS Grid, Flexbox, responsive)</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 app.js               # Frontend JavaScript logic</a:t>
            </a:r>
          </a:p>
          <a:p>
            <a:pPr lvl="0">
              <a:lnSpc>
                <a:spcPct val="162162"/>
              </a:lnSpc>
              <a:buClr>
                <a:srgbClr val="2B3541"/>
              </a:buClr>
              <a:buSzPts val="1850"/>
            </a:pPr>
            <a:r>
              <a:rPr lang="en-US" sz="1000" dirty="0">
                <a:solidFill>
                  <a:srgbClr val="2B3541"/>
                </a:solidFill>
                <a:latin typeface="Times New Roman"/>
                <a:ea typeface="Times New Roman"/>
                <a:cs typeface="Times New Roman"/>
                <a:sym typeface="Times New Roman"/>
              </a:rPr>
              <a:t>    </a:t>
            </a:r>
            <a:endParaRPr lang="en-IN"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293691" y="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216195" y="1173231"/>
            <a:ext cx="11759609" cy="4373970"/>
          </a:xfrm>
          <a:prstGeom prst="rect">
            <a:avLst/>
          </a:prstGeom>
          <a:noFill/>
          <a:ln>
            <a:noFill/>
          </a:ln>
        </p:spPr>
        <p:txBody>
          <a:bodyPr spcFirstLastPara="1" wrap="square" lIns="0" tIns="0" rIns="0" bIns="0" anchor="t" anchorCtr="0">
            <a:noAutofit/>
          </a:bodyPr>
          <a:lstStyle/>
          <a:p>
            <a:pPr marL="342900" indent="-342900">
              <a:lnSpc>
                <a:spcPct val="150000"/>
              </a:lnSpc>
              <a:buFont typeface="+mj-lt"/>
              <a:buAutoNum type="arabicPeriod"/>
            </a:pPr>
            <a:r>
              <a:rPr lang="en-IN" sz="1500" b="1" dirty="0"/>
              <a:t>Geographic Information System (GIS) Integration:- </a:t>
            </a:r>
            <a:r>
              <a:rPr lang="en-IN" sz="1500" dirty="0"/>
              <a:t>Integrate GIS and map-based visualization to </a:t>
            </a:r>
            <a:r>
              <a:rPr lang="en-IN" sz="1500" dirty="0" err="1"/>
              <a:t>analyze</a:t>
            </a:r>
            <a:r>
              <a:rPr lang="en-IN" sz="1500" dirty="0"/>
              <a:t> project locations, connectivity, and regional infrastructure development patterns.</a:t>
            </a:r>
          </a:p>
          <a:p>
            <a:pPr marL="342900" indent="-342900">
              <a:lnSpc>
                <a:spcPct val="150000"/>
              </a:lnSpc>
              <a:buFont typeface="+mj-lt"/>
              <a:buAutoNum type="arabicPeriod"/>
            </a:pPr>
            <a:r>
              <a:rPr lang="en-IN" sz="1500" b="1" dirty="0"/>
              <a:t>Advanced Predictive Analytics:- </a:t>
            </a:r>
            <a:r>
              <a:rPr lang="en-IN" sz="1500" dirty="0"/>
              <a:t>Extend the system to predict project completion status, cost overruns, budget requirements, and construction delays.</a:t>
            </a:r>
          </a:p>
          <a:p>
            <a:pPr marL="342900" indent="-342900">
              <a:lnSpc>
                <a:spcPct val="150000"/>
              </a:lnSpc>
              <a:buFont typeface="+mj-lt"/>
              <a:buAutoNum type="arabicPeriod"/>
            </a:pPr>
            <a:r>
              <a:rPr lang="en-IN" sz="1500" b="1" dirty="0"/>
              <a:t>Explainable AI (XAI):- </a:t>
            </a:r>
            <a:r>
              <a:rPr lang="en-IN" sz="1500" dirty="0"/>
              <a:t>Provide explanations for predictions, helping policymakers understand the factors influencing scheme classification.</a:t>
            </a:r>
          </a:p>
          <a:p>
            <a:pPr marL="342900" indent="-342900">
              <a:lnSpc>
                <a:spcPct val="150000"/>
              </a:lnSpc>
              <a:buFont typeface="+mj-lt"/>
              <a:buAutoNum type="arabicPeriod"/>
            </a:pPr>
            <a:r>
              <a:rPr lang="en-IN" sz="1500" b="1" dirty="0"/>
              <a:t>Real-Time Government Data Integration:- </a:t>
            </a:r>
            <a:r>
              <a:rPr lang="en-IN" sz="1500" dirty="0"/>
              <a:t>Connect with PMGSY and other government databases to automatically retrieve and classify newly added projects.</a:t>
            </a:r>
          </a:p>
          <a:p>
            <a:pPr marL="342900" indent="-342900">
              <a:lnSpc>
                <a:spcPct val="150000"/>
              </a:lnSpc>
              <a:buFont typeface="+mj-lt"/>
              <a:buAutoNum type="arabicPeriod"/>
            </a:pPr>
            <a:r>
              <a:rPr lang="en-IN" sz="1500" b="1" dirty="0"/>
              <a:t>Mobile Application Support:- </a:t>
            </a:r>
            <a:r>
              <a:rPr lang="en-IN" sz="1500" dirty="0"/>
              <a:t>Develop a mobile application to enable field officers and administrators to access predictions and analytics on the go.</a:t>
            </a:r>
          </a:p>
          <a:p>
            <a:pPr marL="342900" indent="-342900">
              <a:lnSpc>
                <a:spcPct val="150000"/>
              </a:lnSpc>
              <a:buFont typeface="+mj-lt"/>
              <a:buAutoNum type="arabicPeriod"/>
            </a:pPr>
            <a:r>
              <a:rPr lang="en-IN" sz="1500" b="1" dirty="0"/>
              <a:t>Multi-Scheme Infrastructure Classification:- </a:t>
            </a:r>
            <a:r>
              <a:rPr lang="en-IN" sz="1500" dirty="0"/>
              <a:t>Expand the system to classify projects from other rural development and infrastructure programs beyond PMGSY.</a:t>
            </a:r>
          </a:p>
          <a:p>
            <a:pPr marL="342900" indent="-342900">
              <a:lnSpc>
                <a:spcPct val="150000"/>
              </a:lnSpc>
              <a:buFont typeface="+mj-lt"/>
              <a:buAutoNum type="arabicPeriod"/>
            </a:pPr>
            <a:r>
              <a:rPr lang="en-IN" sz="1500" b="1" dirty="0"/>
              <a:t>Interactive Analytics Dashboard:- </a:t>
            </a:r>
            <a:r>
              <a:rPr lang="en-IN" sz="1500" dirty="0"/>
              <a:t>Incorporate advanced visualizations, trend analysis, and performance reports to support strategic planning and policy decisions.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1439</TotalTime>
  <Words>1803</Words>
  <Application>Microsoft Office PowerPoint</Application>
  <PresentationFormat>Widescreen</PresentationFormat>
  <Paragraphs>231</Paragraphs>
  <Slides>19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Model Testing and Evaluation</vt:lpstr>
      <vt:lpstr>Roc curve, confusion matrix, precision recall curve  , threshold chart</vt:lpstr>
      <vt:lpstr>PowerPoint Presentation</vt:lpstr>
      <vt:lpstr>Deployment  (deployed on render)</vt:lpstr>
      <vt:lpstr>Web interface and 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anuradha rayudu</cp:lastModifiedBy>
  <cp:revision>22</cp:revision>
  <dcterms:created xsi:type="dcterms:W3CDTF">2025-07-08T05:06:56Z</dcterms:created>
  <dcterms:modified xsi:type="dcterms:W3CDTF">2026-06-04T18:23:39Z</dcterms:modified>
</cp:coreProperties>
</file>